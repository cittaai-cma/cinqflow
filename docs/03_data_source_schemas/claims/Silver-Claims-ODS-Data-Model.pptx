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font" Target="fonts/font2.fntdata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23" Type="http://schemas.openxmlformats.org/officeDocument/2006/relationships/font" Target="fonts/font5.fntdata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4.fntdata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508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Silver Claims ODS — Data Model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0860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canonical, multi-source claims integration model — unified across ACO FHIR and Non-ACO proprietary sources. Designed for structural fidelity, pipeline idempotency, and clean Medallion layer boundaries.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452467"/>
            <a:ext cx="1929170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5520452"/>
            <a:ext cx="165699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ODS LAYER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79233"/>
            <a:ext cx="1021794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547217"/>
            <a:ext cx="7496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962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We'll Cover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045143"/>
            <a:ext cx="13042821" cy="3705225"/>
          </a:xfrm>
          <a:prstGeom prst="roundRect">
            <a:avLst>
              <a:gd name="adj" fmla="val 25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05276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8224" y="3196471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Problem Statement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Two source worlds, one model needed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3196471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Architecture Overview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Bronze → Silver Raw → Silver ODS → Gold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065984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224" y="420969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Silver Raw Layer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it does and does not do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45824" y="4209693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Silver Raw ER Diagram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Source-aligned entity relationships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5079206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224" y="5222915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Core Transformations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Keys, mapping, CDC, normalization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5824" y="5222915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Silver ODS ER Diagram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Member-centric entity relationships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609242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224" y="623613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Gold Layer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Reporting &amp; analytics (placeholder)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824" y="623613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Summary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takeaways (placeholder)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678299"/>
            <a:ext cx="2196227" cy="408384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00827" y="744141"/>
            <a:ext cx="1932622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025" y="1171813"/>
            <a:ext cx="130923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Statement: Two Source Worlds, One Model Needed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69025" y="2864287"/>
            <a:ext cx="130923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Claims data arrives from two structurally different source systems. Without a unified integration layer, downstream analytics are fragmented, inconsistent, and unreliable.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0791" y="3795951"/>
            <a:ext cx="6594634" cy="3755231"/>
          </a:xfrm>
          <a:prstGeom prst="roundRect">
            <a:avLst>
              <a:gd name="adj" fmla="val 4213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830461" y="4008715"/>
            <a:ext cx="420957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Non-ACO — Proprietary Format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30461" y="4564737"/>
            <a:ext cx="615529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type drives separate header/line table pairs with no unified grain: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0461" y="5448538"/>
            <a:ext cx="6155293" cy="2028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Header / IP Line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 Header / OP Line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Pharmacy Header / Pharmacy Line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Dental Header / Dental Line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 Header / Vision Line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32596" y="3795951"/>
            <a:ext cx="6594634" cy="3755231"/>
          </a:xfrm>
          <a:prstGeom prst="roundRect">
            <a:avLst>
              <a:gd name="adj" fmla="val 4213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652266" y="4008715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ACO — FHIR Source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652266" y="4564737"/>
            <a:ext cx="6155293" cy="187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v4 ExplanationOfBenefit (EOB) resources via BCDA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JSON structure — requires flattening at ingest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Bundles can be inconsistent; source_claim_id is the reliable anchor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52266" y="6635710"/>
            <a:ext cx="615529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IDs alone are not reliable. source_claim_id is always the anchor.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937260"/>
            <a:ext cx="2492931" cy="391001"/>
          </a:xfrm>
          <a:prstGeom prst="roundRect">
            <a:avLst>
              <a:gd name="adj" fmla="val 1827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71776" y="1000958"/>
            <a:ext cx="2237899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4260" y="1407914"/>
            <a:ext cx="12903637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Medallion Architecture: Four Layers, One Purpose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44260" y="2371368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has a distinct, non-overlapping responsibility. Business logic does not leak downward. Raw noise does not leak upward.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4260" y="2925128"/>
            <a:ext cx="6471285" cy="1919168"/>
          </a:xfrm>
          <a:prstGeom prst="roundRect">
            <a:avLst>
              <a:gd name="adj" fmla="val 571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1400" y="2925128"/>
            <a:ext cx="91440" cy="1919168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2685097" y="3160633"/>
            <a:ext cx="265807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🟫</a:t>
            </a:r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Bronze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48345" y="3620095"/>
            <a:ext cx="593169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landing zone. Exact copy of source files. No transformation. Append-only. No dedup. No schema enforcement.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14855" y="2925128"/>
            <a:ext cx="6471285" cy="1919168"/>
          </a:xfrm>
          <a:prstGeom prst="roundRect">
            <a:avLst>
              <a:gd name="adj" fmla="val 571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1995" y="2925128"/>
            <a:ext cx="91440" cy="1919168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9355693" y="3160633"/>
            <a:ext cx="265807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🥉</a:t>
            </a:r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Silver Raw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7718941" y="3620095"/>
            <a:ext cx="593169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ingestion layer. Technical dedup via ROW_NUMBER(). record_hash for CDC. Source-aligned keys. ACO + Non-ACO preserved as-is. No business logic.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44260" y="5043607"/>
            <a:ext cx="6471285" cy="2248733"/>
          </a:xfrm>
          <a:prstGeom prst="roundRect">
            <a:avLst>
              <a:gd name="adj" fmla="val 48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00" y="5043607"/>
            <a:ext cx="91440" cy="224873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2685097" y="5279112"/>
            <a:ext cx="265807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🥈</a:t>
            </a:r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Silver ODS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048345" y="5738574"/>
            <a:ext cx="593169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integration layer. Surrogate keys. Member-centric. Structural transformations only: patient→member mapping, adjudication scope, bridge normalization. Source traceability preserved.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14855" y="5043607"/>
            <a:ext cx="6471285" cy="2248733"/>
          </a:xfrm>
          <a:prstGeom prst="roundRect">
            <a:avLst>
              <a:gd name="adj" fmla="val 48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1995" y="5043607"/>
            <a:ext cx="91440" cy="224873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9355693" y="5279112"/>
            <a:ext cx="265807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🥇</a:t>
            </a:r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Gold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7718941" y="5738574"/>
            <a:ext cx="593169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and analytics layer. Conformed dimensions. Flattened models. CCLF export mapping. NOT part of this model.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647105"/>
            <a:ext cx="2274213" cy="408384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00827" y="712946"/>
            <a:ext cx="2010608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→ SILVER RAW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025" y="1140619"/>
            <a:ext cx="130923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Bronze to Silver Raw — Unifying Two Worlds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69025" y="2833092"/>
            <a:ext cx="130923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structurally different sources. One normalized, source-aligned output.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0791" y="3418642"/>
            <a:ext cx="3187541" cy="4163735"/>
          </a:xfrm>
          <a:prstGeom prst="roundRect">
            <a:avLst>
              <a:gd name="adj" fmla="val 4963"/>
            </a:avLst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830461" y="363140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ACO Source</a:t>
            </a:r>
            <a:endParaRPr lang="en-US" sz="2150" dirty="0"/>
          </a:p>
        </p:txBody>
      </p:sp>
      <p:sp>
        <p:nvSpPr>
          <p:cNvPr id="8" name="Shape 6"/>
          <p:cNvSpPr/>
          <p:nvPr/>
        </p:nvSpPr>
        <p:spPr>
          <a:xfrm>
            <a:off x="830461" y="4214098"/>
            <a:ext cx="658058" cy="408384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9" name="Text 7"/>
          <p:cNvSpPr/>
          <p:nvPr/>
        </p:nvSpPr>
        <p:spPr>
          <a:xfrm>
            <a:off x="962263" y="4279940"/>
            <a:ext cx="394454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0461" y="4861917"/>
            <a:ext cx="2748201" cy="2646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ExplanationOfBenefit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JSON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item[], adjudication[], diagnosis[]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source_claim_id anchor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025503" y="3418642"/>
            <a:ext cx="3187541" cy="4163735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245173" y="363140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Non-ACO Source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4245173" y="4214098"/>
            <a:ext cx="1091327" cy="408384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14" name="Text 12"/>
          <p:cNvSpPr/>
          <p:nvPr/>
        </p:nvSpPr>
        <p:spPr>
          <a:xfrm>
            <a:off x="4376976" y="4279940"/>
            <a:ext cx="827723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FILE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45173" y="4861917"/>
            <a:ext cx="2748201" cy="2299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flat files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 table structure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diagnosis_1..n, procedure_1..n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paid_amt, copay_amt, deductible_amt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40216" y="3418642"/>
            <a:ext cx="3187541" cy="4163735"/>
          </a:xfrm>
          <a:prstGeom prst="roundRect">
            <a:avLst>
              <a:gd name="adj" fmla="val 4963"/>
            </a:avLst>
          </a:prstGeom>
          <a:solidFill>
            <a:srgbClr val="FFFBEB"/>
          </a:solidFill>
          <a:ln/>
        </p:spPr>
      </p:sp>
      <p:sp>
        <p:nvSpPr>
          <p:cNvPr id="17" name="Text 15"/>
          <p:cNvSpPr/>
          <p:nvPr/>
        </p:nvSpPr>
        <p:spPr>
          <a:xfrm>
            <a:off x="7659886" y="363140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Ingest &amp; Normalize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7659886" y="4187428"/>
            <a:ext cx="2748201" cy="32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EXPLODE — flatten FHIR arrays into rows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UNPIVOT — normalize repeated columns into rows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— unify keys: claim_id, patient_id, line_number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854928" y="3418642"/>
            <a:ext cx="3187541" cy="4163735"/>
          </a:xfrm>
          <a:prstGeom prst="roundRect">
            <a:avLst>
              <a:gd name="adj" fmla="val 4963"/>
            </a:avLst>
          </a:prstGeom>
          <a:solidFill>
            <a:srgbClr val="F0FDF4"/>
          </a:solidFill>
          <a:ln/>
        </p:spPr>
      </p:sp>
      <p:sp>
        <p:nvSpPr>
          <p:cNvPr id="20" name="Text 18"/>
          <p:cNvSpPr/>
          <p:nvPr/>
        </p:nvSpPr>
        <p:spPr>
          <a:xfrm>
            <a:off x="11074598" y="363140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Tables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1074598" y="4187428"/>
            <a:ext cx="2748201" cy="244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claim_header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claim_line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claim_adjudication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claim_diagnosis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claim_procedure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claim_provider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668655"/>
            <a:ext cx="2526744" cy="408384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00827" y="734497"/>
            <a:ext cx="2263140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RAW — INGESTION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025" y="1162169"/>
            <a:ext cx="82772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Column-Level Source Mapping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769025" y="2168009"/>
            <a:ext cx="13092351" cy="5392817"/>
          </a:xfrm>
          <a:prstGeom prst="roundRect">
            <a:avLst>
              <a:gd name="adj" fmla="val 171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6645" y="2175629"/>
            <a:ext cx="13077111" cy="6166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96553" y="2310884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69581" y="2310884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 Source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38799" y="2310884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Non-ACO Source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808018" y="2310884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Raw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6645" y="2792254"/>
            <a:ext cx="13077111" cy="624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6553" y="2927509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ID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69581" y="2927509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eob.id / identifier[].value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38799" y="2927509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claim_id (header table)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808018" y="2927509"/>
            <a:ext cx="2826068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source_claim_id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6645" y="3416498"/>
            <a:ext cx="13077111" cy="6242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6553" y="3551753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ID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269581" y="3551753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eob.patient.reference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38799" y="3551753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member_id / patient_id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808018" y="3551753"/>
            <a:ext cx="2826068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patient_id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6645" y="4040743"/>
            <a:ext cx="13077111" cy="624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6553" y="4175998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Line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69581" y="4175998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eob.item[].sequence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38799" y="4175998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claim_line_number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808018" y="4175998"/>
            <a:ext cx="2826068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line_number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6645" y="4664988"/>
            <a:ext cx="13077111" cy="962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96553" y="4800243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269581" y="4800243"/>
            <a:ext cx="2822258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eob.diagnosis[].diagnosisCodeableConcept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538799" y="4800243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diagnosis_1..n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808018" y="4800243"/>
            <a:ext cx="2826068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claim_diagnosis (rows)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76645" y="5627727"/>
            <a:ext cx="13077111" cy="9627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96553" y="5762982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269581" y="5762982"/>
            <a:ext cx="2822258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eob.procedure[].procedureCodeableConcept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538799" y="5762982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procedure_1..n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808018" y="5762982"/>
            <a:ext cx="2826068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claim_procedure (rows)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776645" y="6590467"/>
            <a:ext cx="13077111" cy="9627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96553" y="6725722"/>
            <a:ext cx="282606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Adjudication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269581" y="6725722"/>
            <a:ext cx="282225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eob.item[].adjudication[]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538799" y="6725722"/>
            <a:ext cx="2822258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paid_amt, copay_amt, deductible_amt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808018" y="6725722"/>
            <a:ext cx="2826068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claim_adjudication (rows)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29283"/>
            <a:ext cx="1953578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97268"/>
            <a:ext cx="168140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RAW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46252"/>
            <a:ext cx="127794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Silver Raw: Standardize Without Transforming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4951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Raw is the first layer where data gets a shape. It does not interpret data — it preserves it safely.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30436" y="3113246"/>
            <a:ext cx="6571417" cy="4186952"/>
          </a:xfrm>
          <a:prstGeom prst="roundRect">
            <a:avLst>
              <a:gd name="adj" fmla="val 3901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857250" y="3340060"/>
            <a:ext cx="35218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What Silver Raw DOES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7250" y="3921204"/>
            <a:ext cx="6117788" cy="3299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Enforces schema per source type (CSV, FHIR JSON)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dedup via ROW_NUMBER() on source_claim_id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record_hash for downstream CDC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Stamps ingestion_timestamp, batch_id, source_file_id on every row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Carries patient_id as-is from source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Preserves all source field names and raw values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6168" y="3113246"/>
            <a:ext cx="6571417" cy="4186952"/>
          </a:xfrm>
          <a:prstGeom prst="roundRect">
            <a:avLst>
              <a:gd name="adj" fmla="val 3901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662982" y="3340060"/>
            <a:ext cx="45742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🚫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What Silver Raw Does NOT Do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921204"/>
            <a:ext cx="6117788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patient → member resolution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surrogate key generation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cross-source joins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business deduplication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code standardization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analytical logic of any kind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025" y="644128"/>
            <a:ext cx="2652593" cy="408384"/>
          </a:xfrm>
          <a:prstGeom prst="roundRect">
            <a:avLst>
              <a:gd name="adj" fmla="val 18079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00827" y="709970"/>
            <a:ext cx="2388989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RAW — ER DIAGRAM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9025" y="1137642"/>
            <a:ext cx="8449866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Silver Raw: Entity Relationships</a:t>
            </a:r>
            <a:endParaRPr lang="en-US" sz="4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556" y="2143482"/>
            <a:ext cx="8777288" cy="54418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53916"/>
            <a:ext cx="2657475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21901"/>
            <a:ext cx="23852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RAW → SILVER ODS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70886"/>
            <a:ext cx="130219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Transformations: Silver Raw to Silver ODS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4198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structural transformations at this boundary. None are analytical — all are integration-layer responsibilities.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63310" y="3007400"/>
            <a:ext cx="60960" cy="20029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232059" y="3037880"/>
            <a:ext cx="35697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Surrogate Key Generation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81564" y="3528298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PKs on every fact table. source_claim_id is always retained alongside.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05413" y="3007400"/>
            <a:ext cx="60960" cy="20029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549979" y="3037880"/>
            <a:ext cx="38180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→ Member Mapping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23667" y="3528298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patient_id resolves to member_wid via patient_member_map. dim_member is the central entity.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7515" y="3007400"/>
            <a:ext cx="60960" cy="20029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10307836" y="3037880"/>
            <a:ext cx="31867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Dedup + CDC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65769" y="3528298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CDC/Merge replaces Raw's ROW_NUMBER() dedup. record_hash drives change detection.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63310" y="5403056"/>
            <a:ext cx="60960" cy="20029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6810" y="5433536"/>
            <a:ext cx="37403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Bridge Table Normalization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81564" y="5923955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 repeated columns become bridge tables: diagnosis, procedure, provider — each with a FK back to the parent claim.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5205413" y="5403056"/>
            <a:ext cx="60960" cy="20029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5523667" y="5433536"/>
            <a:ext cx="387084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Adjudication Scope Enforcement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23667" y="6278285"/>
            <a:ext cx="387084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adjudication_scope = LINE or HEADER. Exactly one FK populated per row — never both.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9647515" y="5403056"/>
            <a:ext cx="60960" cy="20029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10404038" y="5433536"/>
            <a:ext cx="2994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Standardization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65769" y="5923955"/>
            <a:ext cx="387084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codes preserved as-is. Standardized columns are added alongside; Silver ODS never overwrites source values.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628055"/>
            <a:ext cx="2545080" cy="391001"/>
          </a:xfrm>
          <a:prstGeom prst="roundRect">
            <a:avLst>
              <a:gd name="adj" fmla="val 18274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71776" y="691753"/>
            <a:ext cx="2290048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 ODS — ER DIAGRAM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4260" y="1098709"/>
            <a:ext cx="8211503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Silver ODS: Entity Relationships</a:t>
            </a:r>
            <a:endParaRPr lang="en-US" sz="4150" dirty="0"/>
          </a:p>
        </p:txBody>
      </p:sp>
      <p:sp>
        <p:nvSpPr>
          <p:cNvPr id="5" name="Text 3"/>
          <p:cNvSpPr/>
          <p:nvPr/>
        </p:nvSpPr>
        <p:spPr>
          <a:xfrm>
            <a:off x="744260" y="2062163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Member-centric, surrogate-keyed relational model. Bridge tables for diagnosis, procedure, and provider. All relationships are logical — no DB REFERENCES enforced.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460" y="2945487"/>
            <a:ext cx="10703362" cy="46559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27936"/>
            <a:ext cx="1372433" cy="417314"/>
          </a:xfrm>
          <a:prstGeom prst="roundRect">
            <a:avLst>
              <a:gd name="adj" fmla="val 1797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5353" y="694849"/>
            <a:ext cx="110454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407" y="1133118"/>
            <a:ext cx="964227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Gold Layer — Reporting &amp; Analytics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781407" y="2160508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Placeholder — Gold layer content to be added ]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20673" y="2762012"/>
            <a:ext cx="6582966" cy="3298984"/>
          </a:xfrm>
          <a:prstGeom prst="roundRect">
            <a:avLst>
              <a:gd name="adj" fmla="val 4873"/>
            </a:avLst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843915" y="298180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Goes Here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843915" y="3550444"/>
            <a:ext cx="6136481" cy="24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Conformed dimensions (dim_member, dim_provider, dim_date)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Flattened, denormalized models for reporting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CCLF export mapping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Aggregated financial summaries (allowed, paid, billed)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 performance metrics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4382" y="2762012"/>
            <a:ext cx="6582966" cy="3298984"/>
          </a:xfrm>
          <a:prstGeom prst="roundRect">
            <a:avLst>
              <a:gd name="adj" fmla="val 487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657624" y="298180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Principles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57624" y="3550444"/>
            <a:ext cx="6136481" cy="2002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top of Silver ODS — never directly on Bronze or Silver Raw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logic lives here, not in Silver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Conformed keys replace surrogate keys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for query performance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81407" y="6308169"/>
            <a:ext cx="13067586" cy="1293495"/>
          </a:xfrm>
          <a:prstGeom prst="roundRect">
            <a:avLst>
              <a:gd name="adj" fmla="val 7250"/>
            </a:avLst>
          </a:prstGeom>
          <a:solidFill>
            <a:srgbClr val="C7C9E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649" y="6643211"/>
            <a:ext cx="279083" cy="22324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06974" y="6583680"/>
            <a:ext cx="121187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slide is a placeholder. Gold layer design is out of scope for this model — content to be completed separately.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23806"/>
            <a:ext cx="1211699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91791"/>
            <a:ext cx="93952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40775"/>
            <a:ext cx="76209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Summary &amp; Key Takeaways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4897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Placeholder — Summary content to be added ]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107769"/>
            <a:ext cx="4196358" cy="1920478"/>
          </a:xfrm>
          <a:prstGeom prst="roundRect">
            <a:avLst>
              <a:gd name="adj" fmla="val 49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224" y="334220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Takeaway 1 ] Placeholder — e.g. Silver ODS is the canonical integration layer, not a reporting layer.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107769"/>
            <a:ext cx="4196358" cy="1920478"/>
          </a:xfrm>
          <a:prstGeom prst="roundRect">
            <a:avLst>
              <a:gd name="adj" fmla="val 49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1396" y="334220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Takeaway 2 ] Placeholder — e.g. source_system + source_claim_id is the universal natural key across all sources.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107769"/>
            <a:ext cx="4196358" cy="1920478"/>
          </a:xfrm>
          <a:prstGeom prst="roundRect">
            <a:avLst>
              <a:gd name="adj" fmla="val 49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34220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Takeaway 3 ] Placeholder — e.g. Adjudication table is the source of truth for financial adjustments.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255062"/>
            <a:ext cx="13042702" cy="831771"/>
          </a:xfrm>
          <a:prstGeom prst="roundRect">
            <a:avLst>
              <a:gd name="adj" fmla="val 114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489496"/>
            <a:ext cx="125738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Takeaway 4 ] Placeholder — e.g. All analytical logic belongs in Gold — never in Silver.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6341983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686074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30906" y="662547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slide is a placeholder. Add final takeaways and next steps before presenting.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01684506616B4AA25ACEAB11E18AF3" ma:contentTypeVersion="11" ma:contentTypeDescription="Create a new document." ma:contentTypeScope="" ma:versionID="597525ad70e0a0f43a376c2ea30524fe">
  <xsd:schema xmlns:xsd="http://www.w3.org/2001/XMLSchema" xmlns:xs="http://www.w3.org/2001/XMLSchema" xmlns:p="http://schemas.microsoft.com/office/2006/metadata/properties" xmlns:ns2="33059d93-2309-41ed-9b34-ca808a9b9e01" xmlns:ns3="f16b3a5c-980b-46e3-b815-254754dadcaf" targetNamespace="http://schemas.microsoft.com/office/2006/metadata/properties" ma:root="true" ma:fieldsID="8dd4f92f54a6369ae601a3417159086b" ns2:_="" ns3:_="">
    <xsd:import namespace="33059d93-2309-41ed-9b34-ca808a9b9e01"/>
    <xsd:import namespace="f16b3a5c-980b-46e3-b815-254754dadc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059d93-2309-41ed-9b34-ca808a9b9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f2941a-98a3-4c0a-b0e5-dcebad1f39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b3a5c-980b-46e3-b815-254754dadca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41669ef-df6c-4b27-bee4-ea814f0aefc9}" ma:internalName="TaxCatchAll" ma:showField="CatchAllData" ma:web="f16b3a5c-980b-46e3-b815-254754dadc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3059d93-2309-41ed-9b34-ca808a9b9e01">
      <Terms xmlns="http://schemas.microsoft.com/office/infopath/2007/PartnerControls"/>
    </lcf76f155ced4ddcb4097134ff3c332f>
    <TaxCatchAll xmlns="f16b3a5c-980b-46e3-b815-254754dadcaf" xsi:nil="true"/>
  </documentManagement>
</p:properties>
</file>

<file path=customXml/itemProps1.xml><?xml version="1.0" encoding="utf-8"?>
<ds:datastoreItem xmlns:ds="http://schemas.openxmlformats.org/officeDocument/2006/customXml" ds:itemID="{F33ABA70-DCA7-4F5E-92BC-CF2C0945BD7C}"/>
</file>

<file path=customXml/itemProps2.xml><?xml version="1.0" encoding="utf-8"?>
<ds:datastoreItem xmlns:ds="http://schemas.openxmlformats.org/officeDocument/2006/customXml" ds:itemID="{58DC5B77-76AC-4131-B1CA-D926A71A0C7C}"/>
</file>

<file path=customXml/itemProps3.xml><?xml version="1.0" encoding="utf-8"?>
<ds:datastoreItem xmlns:ds="http://schemas.openxmlformats.org/officeDocument/2006/customXml" ds:itemID="{FBA1C521-B384-4A63-9FC2-940A821DDF9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2026-04-13T14:42:54Z</dcterms:created>
  <dcterms:modified xsi:type="dcterms:W3CDTF">2026-04-13T14:42:54Z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0x0101001601684506616B4AA25ACEAB11E18AF3</vt:lpwstr>
  </property>
</Properties>
</file>