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  <p:embeddedFont>
      <p:font typeface="Inter"/>
      <p:regular r:id="rId25"/>
    </p:embeddedFont>
    <p:embeddedFont>
      <p:font typeface="Inter"/>
      <p:regular r:id="rId26"/>
    </p:embeddedFont>
    <p:embeddedFont>
      <p:font typeface="Inter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font" Target="fonts/font1.fntdata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4.fntdata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7C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9F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7C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9F0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7C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9F0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7C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9F0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7C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9F0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7C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9F0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7C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9F0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7C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9F0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7C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9F0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7C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9F0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7C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9F0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7C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9F0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7C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9F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slideLayout" Target="../slideLayouts/slideLayout13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4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2835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Lakehouse Phase 1 Execution Plan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566166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COO, CFO, Chief Legal Officer, IT Leadership, and Program Owners —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 11, 2026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78060"/>
            <a:ext cx="601741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 &amp; Commitment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3495794"/>
            <a:ext cx="6565106" cy="2155627"/>
          </a:xfrm>
          <a:prstGeom prst="roundRect">
            <a:avLst>
              <a:gd name="adj" fmla="val 6629"/>
            </a:avLst>
          </a:prstGeom>
          <a:solidFill>
            <a:srgbClr val="F7941D"/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369415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4202668"/>
            <a:ext cx="616839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 up a governed operational insight layer using only ADT, claims, and eligibility roster data. Phase 1 is complete when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outputs are in use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when a broad platform build is finished.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369415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Commitment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4202668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mid-May 2026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deliver four production outputs supported by defined owners, refresh schedules, reconciliation controls, and a clear handoff from the outsourced team to internal IT, analytics, and business owners.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7003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 &amp; Scope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087767"/>
            <a:ext cx="755642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document defines the executable Phase 1 plan for the Data Lakehouse workstream. It is written for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turnover and decision-making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not to re-sell the program. It clarifies what Phase 1 will deliver, what it will not deliver, what internal resources are required, and how the outsourced team will transfer knowledge.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4898708"/>
            <a:ext cx="7556421" cy="1160740"/>
          </a:xfrm>
          <a:prstGeom prst="roundRect">
            <a:avLst>
              <a:gd name="adj" fmla="val 7182"/>
            </a:avLst>
          </a:prstGeom>
          <a:solidFill>
            <a:srgbClr val="FCDCB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48" y="5201603"/>
            <a:ext cx="248007" cy="1983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38513" y="5146596"/>
            <a:ext cx="67133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scope is intentionally limited to three source domains: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ADT, claims, and eligibility rosters.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additional data domains are required.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5696"/>
            <a:ext cx="880252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 Outcome: Definition of Done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7260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is complete when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the following are true: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204" y="3319463"/>
            <a:ext cx="297656" cy="297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8632" y="33133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Four Outputs Live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438632" y="3742611"/>
            <a:ext cx="575250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four production outputs are available to named business and operational owners, using only ADT, claims, and eligibility data.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3558" y="3319463"/>
            <a:ext cx="297656" cy="2976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83987" y="3313390"/>
            <a:ext cx="30425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Documented &amp; Operating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8083987" y="3742611"/>
            <a:ext cx="575262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 cadence, ownership, and reconciliation rules are documented and actively operating.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204" y="5098137"/>
            <a:ext cx="297656" cy="2976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38632" y="5092065"/>
            <a:ext cx="361783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Internal Teams Self-Sufficient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438632" y="5521285"/>
            <a:ext cx="575250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teams can explain data flow, transformation logic, quality checks, and the support model without dependence on the outsourced team.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13558" y="5098137"/>
            <a:ext cx="297656" cy="2976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83987" y="5092065"/>
            <a:ext cx="27028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Agreed Backlog Exists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8083987" y="5521285"/>
            <a:ext cx="575262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documented backlog covers deferred work, Phase 1.5 hardening, and later source expansion.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7517"/>
            <a:ext cx="66671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 Production Outputs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104430"/>
            <a:ext cx="6422231" cy="2419588"/>
          </a:xfrm>
          <a:prstGeom prst="roundRect">
            <a:avLst>
              <a:gd name="adj" fmla="val 3445"/>
            </a:avLst>
          </a:prstGeom>
          <a:solidFill>
            <a:srgbClr val="FDF9F0"/>
          </a:solidFill>
          <a:ln w="22860">
            <a:solidFill>
              <a:srgbClr val="E3CE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2127290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FDE8CE"/>
          </a:solidFill>
          <a:ln/>
        </p:spPr>
      </p:sp>
      <p:sp>
        <p:nvSpPr>
          <p:cNvPr id="5" name="Text 3"/>
          <p:cNvSpPr/>
          <p:nvPr/>
        </p:nvSpPr>
        <p:spPr>
          <a:xfrm>
            <a:off x="3856077" y="223504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15008" y="2920960"/>
            <a:ext cx="343054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Acute Event Command View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15008" y="3350181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view of admissions, discharges, and ED events for operational awareness. Uses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ADT + current eligibility match.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Owner: Operations.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2104430"/>
            <a:ext cx="6422231" cy="2419588"/>
          </a:xfrm>
          <a:prstGeom prst="roundRect">
            <a:avLst>
              <a:gd name="adj" fmla="val 3445"/>
            </a:avLst>
          </a:prstGeom>
          <a:solidFill>
            <a:srgbClr val="FDF9F0"/>
          </a:solidFill>
          <a:ln w="22860">
            <a:solidFill>
              <a:srgbClr val="E3CE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37239" y="2127290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FDE8CE"/>
          </a:solidFill>
          <a:ln/>
        </p:spPr>
      </p:sp>
      <p:sp>
        <p:nvSpPr>
          <p:cNvPr id="10" name="Text 8"/>
          <p:cNvSpPr/>
          <p:nvPr/>
        </p:nvSpPr>
        <p:spPr>
          <a:xfrm>
            <a:off x="10476667" y="223504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635597" y="2920960"/>
            <a:ext cx="373749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Transition of Care Action Layer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635597" y="3350181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Workable output for attributed members with recent acute events requiring follow-up. Uses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ADT, eligibility, and selected claims.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Owner: Clinical Operations.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4722376"/>
            <a:ext cx="6422231" cy="2419588"/>
          </a:xfrm>
          <a:prstGeom prst="roundRect">
            <a:avLst>
              <a:gd name="adj" fmla="val 3445"/>
            </a:avLst>
          </a:prstGeom>
          <a:solidFill>
            <a:srgbClr val="FDF9F0"/>
          </a:solidFill>
          <a:ln w="22860">
            <a:solidFill>
              <a:srgbClr val="E3CE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6650" y="4745236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FDE8CE"/>
          </a:solidFill>
          <a:ln/>
        </p:spPr>
      </p:sp>
      <p:sp>
        <p:nvSpPr>
          <p:cNvPr id="15" name="Text 13"/>
          <p:cNvSpPr/>
          <p:nvPr/>
        </p:nvSpPr>
        <p:spPr>
          <a:xfrm>
            <a:off x="3856077" y="485298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015008" y="5538907"/>
            <a:ext cx="449949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Utilization &amp; Cost Pressure View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15008" y="5968127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attributed members with recent inpatient, repeat ED, or high-cost patterns. Uses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claims + current eligibility.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Owner: Finance &amp; Operations.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414379" y="4722376"/>
            <a:ext cx="6422231" cy="2419588"/>
          </a:xfrm>
          <a:prstGeom prst="roundRect">
            <a:avLst>
              <a:gd name="adj" fmla="val 3445"/>
            </a:avLst>
          </a:prstGeom>
          <a:solidFill>
            <a:srgbClr val="FDF9F0"/>
          </a:solidFill>
          <a:ln w="22860">
            <a:solidFill>
              <a:srgbClr val="E3CE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7239" y="4745236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FDE8CE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6667" y="485298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635597" y="5538907"/>
            <a:ext cx="51751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Quality &amp; Reconciliation Control Layer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635597" y="5968127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 into stale feeds, unmatched records, roster gaps, and output trust issues. Uses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ADT, claims, eligibility, and transformation checks.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Owner: IT &amp; Analytics.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8290"/>
            <a:ext cx="508444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Out of Scope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575203"/>
            <a:ext cx="3111937" cy="2421493"/>
          </a:xfrm>
          <a:prstGeom prst="roundRect">
            <a:avLst>
              <a:gd name="adj" fmla="val 3442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27811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New Sources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9768" y="3210401"/>
            <a:ext cx="269998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source onboarding beyond ADT, claims, and eligibility rosters.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104084" y="2575203"/>
            <a:ext cx="3111937" cy="2421493"/>
          </a:xfrm>
          <a:prstGeom prst="roundRect">
            <a:avLst>
              <a:gd name="adj" fmla="val 3442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10063" y="2781181"/>
            <a:ext cx="269998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Canonical Modeling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310063" y="3520559"/>
            <a:ext cx="269998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enterprise-wide modeling beyond what supports the four Phase 1 outputs.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2575203"/>
            <a:ext cx="3111937" cy="2421493"/>
          </a:xfrm>
          <a:prstGeom prst="roundRect">
            <a:avLst>
              <a:gd name="adj" fmla="val 3442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357" y="27811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Backfill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620357" y="3210401"/>
            <a:ext cx="269998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historical backfill beyond the minimum required to make outputs useful.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0724674" y="2575203"/>
            <a:ext cx="3111937" cy="2421493"/>
          </a:xfrm>
          <a:prstGeom prst="roundRect">
            <a:avLst>
              <a:gd name="adj" fmla="val 3442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30652" y="2781181"/>
            <a:ext cx="269998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Generic Frameworks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930652" y="3520559"/>
            <a:ext cx="26999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ingestion framework buildout for future sources.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195054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9768" y="5401032"/>
            <a:ext cx="248781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AI/ML Workloads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9768" y="5830253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advanced AI feature engineering, model development, or new data science workloads.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414379" y="5195054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0357" y="5401032"/>
            <a:ext cx="291000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Dashboard Redesign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620357" y="5830253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dashboard work that does not improve trust, actionability, or reuse.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9637"/>
            <a:ext cx="5296614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Internal Resource Model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1789271"/>
            <a:ext cx="1304282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outsourced team accelerates current-state understanding and establishes governed data products. </a:t>
            </a:r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teams must be staffed to absorb knowledge and own the environment after go-live.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3790" y="2513052"/>
            <a:ext cx="13042821" cy="3643789"/>
          </a:xfrm>
          <a:prstGeom prst="roundRect">
            <a:avLst>
              <a:gd name="adj" fmla="val 205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520672"/>
            <a:ext cx="13027581" cy="4795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80242" y="2624733"/>
            <a:ext cx="354722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92278" y="2624733"/>
            <a:ext cx="35434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Responsibility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00505" y="2624733"/>
            <a:ext cx="224063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FTE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05949" y="2624733"/>
            <a:ext cx="22444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Outsourced FTE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1410" y="3000256"/>
            <a:ext cx="13027581" cy="4795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80242" y="3104317"/>
            <a:ext cx="354722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Sponsor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278" y="3104317"/>
            <a:ext cx="35434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protection, escalation, decisions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00505" y="3104317"/>
            <a:ext cx="224063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05949" y="3104317"/>
            <a:ext cx="22444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needed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1410" y="3479840"/>
            <a:ext cx="13027581" cy="7510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80242" y="3583900"/>
            <a:ext cx="354722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Product Owner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278" y="3583900"/>
            <a:ext cx="354341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definitions, acceptance, prioritization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00505" y="3583900"/>
            <a:ext cx="224063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05949" y="3583900"/>
            <a:ext cx="22444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only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1410" y="4230886"/>
            <a:ext cx="13027581" cy="4795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80242" y="4334947"/>
            <a:ext cx="354722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Delivery Lead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278" y="4334947"/>
            <a:ext cx="35434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execution across teams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00505" y="4334947"/>
            <a:ext cx="224063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05949" y="4334947"/>
            <a:ext cx="22444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1410" y="4710470"/>
            <a:ext cx="13027581" cy="4795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80242" y="4814530"/>
            <a:ext cx="354722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Lead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278" y="4814530"/>
            <a:ext cx="35434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definition, output validation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00505" y="4814530"/>
            <a:ext cx="224063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05949" y="4814530"/>
            <a:ext cx="22444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01410" y="5190053"/>
            <a:ext cx="13027581" cy="4795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80242" y="5294114"/>
            <a:ext cx="354722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Engineering Lead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92278" y="5294114"/>
            <a:ext cx="35434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and transformation ownership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00505" y="5294114"/>
            <a:ext cx="224063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405949" y="5294114"/>
            <a:ext cx="22444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01410" y="5669637"/>
            <a:ext cx="13027581" cy="4795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80242" y="5773698"/>
            <a:ext cx="354722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ADT / Claims / Eligibility Source Owners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92278" y="5773698"/>
            <a:ext cx="35434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validation and defect resolution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800505" y="5773698"/>
            <a:ext cx="224063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0.25 each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405949" y="5773698"/>
            <a:ext cx="22444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0.25 each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93790" y="6337697"/>
            <a:ext cx="13042821" cy="982266"/>
          </a:xfrm>
          <a:prstGeom prst="roundRect">
            <a:avLst>
              <a:gd name="adj" fmla="val 7638"/>
            </a:avLst>
          </a:prstGeom>
          <a:solidFill>
            <a:srgbClr val="FCDCB5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383" y="6602730"/>
            <a:ext cx="223242" cy="17859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374219" y="6543080"/>
            <a:ext cx="12283797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Critical: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named internal roles are not ring-fenced for Phase 1, the outsourced team will function as a temporary overlay rather than an accelerator with a usable handoff.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99974"/>
            <a:ext cx="1245286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Knowledge Transfer &amp; Current State Understanding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81606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Transfer Objectives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324582"/>
            <a:ext cx="6279356" cy="306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current-state data flow for ADT, claims, and eligibility from source through transformation, reporting, and issue handling.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where Power BI outputs rely on duplicated logic, manual reconciliation, or undocumented business rules.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one agreed set of business definitions and reconciliation rules for all four outputs.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internal teams can validate scope, accept deliverables, and support outputs after go-live.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421999" y="2617708"/>
            <a:ext cx="6565106" cy="3911798"/>
          </a:xfrm>
          <a:prstGeom prst="roundRect">
            <a:avLst>
              <a:gd name="adj" fmla="val 3653"/>
            </a:avLst>
          </a:prstGeom>
          <a:solidFill>
            <a:srgbClr val="FFE6C7"/>
          </a:solidFill>
          <a:ln/>
        </p:spPr>
      </p:sp>
      <p:sp>
        <p:nvSpPr>
          <p:cNvPr id="6" name="Text 4"/>
          <p:cNvSpPr/>
          <p:nvPr/>
        </p:nvSpPr>
        <p:spPr>
          <a:xfrm>
            <a:off x="7620357" y="2816066"/>
            <a:ext cx="54880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Required Deliverables from Outsourced Team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620357" y="3324582"/>
            <a:ext cx="6168390" cy="3135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Current-state architecture diagram and field-level source map.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 inventory: existing logic, duplicates, and retirement candidates.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and reconciliation rules per output.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Runbook: refresh cadence, defect triage, monitoring, and escalation.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Walkthrough sessions with recorded demos and written handoff materials.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9956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Delivery Plan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303770" y="1479590"/>
            <a:ext cx="22860" cy="6150054"/>
          </a:xfrm>
          <a:prstGeom prst="roundRect">
            <a:avLst>
              <a:gd name="adj" fmla="val 328186"/>
            </a:avLst>
          </a:prstGeom>
          <a:solidFill>
            <a:srgbClr val="E3CEB4"/>
          </a:solidFill>
          <a:ln/>
        </p:spPr>
      </p:sp>
      <p:sp>
        <p:nvSpPr>
          <p:cNvPr id="4" name="Shape 2"/>
          <p:cNvSpPr/>
          <p:nvPr/>
        </p:nvSpPr>
        <p:spPr>
          <a:xfrm>
            <a:off x="6601361" y="1669018"/>
            <a:ext cx="535781" cy="22860"/>
          </a:xfrm>
          <a:prstGeom prst="roundRect">
            <a:avLst>
              <a:gd name="adj" fmla="val 328186"/>
            </a:avLst>
          </a:prstGeom>
          <a:solidFill>
            <a:srgbClr val="E3CEB4"/>
          </a:solidFill>
          <a:ln/>
        </p:spPr>
      </p:sp>
      <p:sp>
        <p:nvSpPr>
          <p:cNvPr id="5" name="Shape 3"/>
          <p:cNvSpPr/>
          <p:nvPr/>
        </p:nvSpPr>
        <p:spPr>
          <a:xfrm>
            <a:off x="7114282" y="1479590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81195" y="1512987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189333" y="154090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 1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1916311"/>
            <a:ext cx="5628323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Freeze Phase 1 scope and internal assignments. Deliver approved output list, owner matrix, and source boundary. </a:t>
            </a:r>
            <a:pPr algn="r"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Executive Sponsor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3258" y="2704981"/>
            <a:ext cx="535781" cy="22860"/>
          </a:xfrm>
          <a:prstGeom prst="roundRect">
            <a:avLst>
              <a:gd name="adj" fmla="val 328186"/>
            </a:avLst>
          </a:prstGeom>
          <a:solidFill>
            <a:srgbClr val="E3CEB4"/>
          </a:solidFill>
          <a:ln/>
        </p:spPr>
      </p:sp>
      <p:sp>
        <p:nvSpPr>
          <p:cNvPr id="10" name="Shape 8"/>
          <p:cNvSpPr/>
          <p:nvPr/>
        </p:nvSpPr>
        <p:spPr>
          <a:xfrm>
            <a:off x="7114282" y="2515553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81195" y="2548950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08288" y="2576870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 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208288" y="2952274"/>
            <a:ext cx="5628323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current-state assessment and source field map. Deliver architecture diagram, field map, and known gaps. </a:t>
            </a:r>
            <a:pPr algn="l"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Technical Delivery Lead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01361" y="3610808"/>
            <a:ext cx="535781" cy="22860"/>
          </a:xfrm>
          <a:prstGeom prst="roundRect">
            <a:avLst>
              <a:gd name="adj" fmla="val 328186"/>
            </a:avLst>
          </a:prstGeom>
          <a:solidFill>
            <a:srgbClr val="E3CEB4"/>
          </a:solidFill>
          <a:ln/>
        </p:spPr>
      </p:sp>
      <p:sp>
        <p:nvSpPr>
          <p:cNvPr id="15" name="Shape 13"/>
          <p:cNvSpPr/>
          <p:nvPr/>
        </p:nvSpPr>
        <p:spPr>
          <a:xfrm>
            <a:off x="7114282" y="3421380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81195" y="3454777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189333" y="348269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 3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3858101"/>
            <a:ext cx="5628323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Finalize business definitions and reconciliation rules. Deliver metric definitions, matching logic, and refresh rules. </a:t>
            </a:r>
            <a:pPr algn="r"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Business Product Owner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3258" y="4516755"/>
            <a:ext cx="535781" cy="22860"/>
          </a:xfrm>
          <a:prstGeom prst="roundRect">
            <a:avLst>
              <a:gd name="adj" fmla="val 328186"/>
            </a:avLst>
          </a:prstGeom>
          <a:solidFill>
            <a:srgbClr val="E3CEB4"/>
          </a:solidFill>
          <a:ln/>
        </p:spPr>
      </p:sp>
      <p:sp>
        <p:nvSpPr>
          <p:cNvPr id="20" name="Shape 18"/>
          <p:cNvSpPr/>
          <p:nvPr/>
        </p:nvSpPr>
        <p:spPr>
          <a:xfrm>
            <a:off x="7114282" y="4327327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1195" y="4360724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208288" y="4388644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Weeks 4–5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208288" y="4764048"/>
            <a:ext cx="5628323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and validate governed transformation layer. Deliver initial output datasets and reconciliation results. </a:t>
            </a:r>
            <a:pPr algn="l"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Data Engineering Lead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01361" y="5422702"/>
            <a:ext cx="535781" cy="22860"/>
          </a:xfrm>
          <a:prstGeom prst="roundRect">
            <a:avLst>
              <a:gd name="adj" fmla="val 328186"/>
            </a:avLst>
          </a:prstGeom>
          <a:solidFill>
            <a:srgbClr val="E3CEB4"/>
          </a:solidFill>
          <a:ln/>
        </p:spPr>
      </p:sp>
      <p:sp>
        <p:nvSpPr>
          <p:cNvPr id="25" name="Shape 23"/>
          <p:cNvSpPr/>
          <p:nvPr/>
        </p:nvSpPr>
        <p:spPr>
          <a:xfrm>
            <a:off x="7114282" y="5233273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81195" y="5266670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4189333" y="5294590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Weeks 6–7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93790" y="5669994"/>
            <a:ext cx="5628323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with internal users and stabilize defects. Deliver signed output validation and updated runbooks. </a:t>
            </a:r>
            <a:pPr algn="r"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Analytics Lead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3258" y="6328648"/>
            <a:ext cx="535781" cy="22860"/>
          </a:xfrm>
          <a:prstGeom prst="roundRect">
            <a:avLst>
              <a:gd name="adj" fmla="val 328186"/>
            </a:avLst>
          </a:prstGeom>
          <a:solidFill>
            <a:srgbClr val="E3CEB4"/>
          </a:solidFill>
          <a:ln/>
        </p:spPr>
      </p:sp>
      <p:sp>
        <p:nvSpPr>
          <p:cNvPr id="30" name="Shape 28"/>
          <p:cNvSpPr/>
          <p:nvPr/>
        </p:nvSpPr>
        <p:spPr>
          <a:xfrm>
            <a:off x="7114282" y="6139220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81195" y="6172617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8208288" y="620053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Weeks 8–9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8208288" y="6575941"/>
            <a:ext cx="5628323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outputs into production cadence and complete handoff. Deliver production run, monitoring, and support readiness. </a:t>
            </a:r>
            <a:pPr algn="l"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Technical Delivery Lead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2102"/>
            <a:ext cx="7059930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Governance &amp; Working Cadence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1582103"/>
            <a:ext cx="2676168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Accountability Structure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70930" y="2019062"/>
            <a:ext cx="45720" cy="75688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5" name="Text 3"/>
          <p:cNvSpPr/>
          <p:nvPr/>
        </p:nvSpPr>
        <p:spPr>
          <a:xfrm>
            <a:off x="1018103" y="2041922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Sponsor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18103" y="2481620"/>
            <a:ext cx="6079212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protection, escalation, and cross-functional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0930" y="3051691"/>
            <a:ext cx="45720" cy="1028343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8" name="Text 6"/>
          <p:cNvSpPr/>
          <p:nvPr/>
        </p:nvSpPr>
        <p:spPr>
          <a:xfrm>
            <a:off x="1018103" y="3074551"/>
            <a:ext cx="268450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Product Owner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18103" y="3514249"/>
            <a:ext cx="607921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Acceptance of four outputs, defect prioritization, and operating alignment.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0930" y="4355783"/>
            <a:ext cx="45720" cy="75688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11" name="Text 9"/>
          <p:cNvSpPr/>
          <p:nvPr/>
        </p:nvSpPr>
        <p:spPr>
          <a:xfrm>
            <a:off x="1018103" y="4378643"/>
            <a:ext cx="260234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Delivery Lead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18103" y="4818340"/>
            <a:ext cx="6079212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execution across internal and outsourced resources.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0930" y="5388412"/>
            <a:ext cx="45720" cy="1028343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14" name="Text 12"/>
          <p:cNvSpPr/>
          <p:nvPr/>
        </p:nvSpPr>
        <p:spPr>
          <a:xfrm>
            <a:off x="1018103" y="5411272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Analytics Lead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18103" y="5850969"/>
            <a:ext cx="607921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usability, metric definitions, and validation against current reporting.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0930" y="6692503"/>
            <a:ext cx="45720" cy="75688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17" name="Text 15"/>
          <p:cNvSpPr/>
          <p:nvPr/>
        </p:nvSpPr>
        <p:spPr>
          <a:xfrm>
            <a:off x="1018103" y="6715363"/>
            <a:ext cx="2454354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Engineering Lead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18103" y="7155061"/>
            <a:ext cx="6079212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Pipelines, transformations, quality controls, and support readiness.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12117" y="1421368"/>
            <a:ext cx="6560701" cy="6186011"/>
          </a:xfrm>
          <a:prstGeom prst="roundRect">
            <a:avLst>
              <a:gd name="adj" fmla="val 2079"/>
            </a:avLst>
          </a:prstGeom>
          <a:solidFill>
            <a:srgbClr val="F7941D"/>
          </a:solidFill>
          <a:ln/>
        </p:spPr>
      </p:sp>
      <p:sp>
        <p:nvSpPr>
          <p:cNvPr id="20" name="Text 18"/>
          <p:cNvSpPr/>
          <p:nvPr/>
        </p:nvSpPr>
        <p:spPr>
          <a:xfrm>
            <a:off x="7590711" y="158210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Meeting Cadence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90711" y="2021800"/>
            <a:ext cx="6203513" cy="179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20-min standup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active execution issues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Twice-weekly working session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architecture, logic, and reconciliation decisions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executive checkpoint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scope, risk, staffing, and acceptance readiness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KT checkpoint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internal readiness and open gaps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0270"/>
            <a:ext cx="536019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Risks &amp; Dependencies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227183"/>
            <a:ext cx="4215289" cy="2141815"/>
          </a:xfrm>
          <a:prstGeom prst="roundRect">
            <a:avLst>
              <a:gd name="adj" fmla="val 5123"/>
            </a:avLst>
          </a:prstGeom>
          <a:solidFill>
            <a:srgbClr val="FDF9F0"/>
          </a:solidFill>
          <a:ln w="22860">
            <a:solidFill>
              <a:srgbClr val="E3CE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2227183"/>
            <a:ext cx="91440" cy="2141815"/>
          </a:xfrm>
          <a:prstGeom prst="roundRect">
            <a:avLst>
              <a:gd name="adj" fmla="val 91163"/>
            </a:avLst>
          </a:prstGeom>
          <a:solidFill>
            <a:srgbClr val="F7941D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2448401"/>
            <a:ext cx="333315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Uncontrolled Scope Growth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2877622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 delivery and weakens knowledge transfer.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new sources or use cases without executive approval.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2227183"/>
            <a:ext cx="4215408" cy="2141815"/>
          </a:xfrm>
          <a:prstGeom prst="roundRect">
            <a:avLst>
              <a:gd name="adj" fmla="val 5123"/>
            </a:avLst>
          </a:prstGeom>
          <a:solidFill>
            <a:srgbClr val="FDF9F0"/>
          </a:solidFill>
          <a:ln w="22860">
            <a:solidFill>
              <a:srgbClr val="E3CE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4577" y="2227183"/>
            <a:ext cx="91440" cy="2141815"/>
          </a:xfrm>
          <a:prstGeom prst="roundRect">
            <a:avLst>
              <a:gd name="adj" fmla="val 91163"/>
            </a:avLst>
          </a:prstGeom>
          <a:solidFill>
            <a:srgbClr val="F7941D"/>
          </a:solidFill>
          <a:ln/>
        </p:spPr>
      </p:sp>
      <p:sp>
        <p:nvSpPr>
          <p:cNvPr id="9" name="Text 7"/>
          <p:cNvSpPr/>
          <p:nvPr/>
        </p:nvSpPr>
        <p:spPr>
          <a:xfrm>
            <a:off x="5497235" y="2448401"/>
            <a:ext cx="339173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Insufficient Internal Staffing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97235" y="2877622"/>
            <a:ext cx="37043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dependence on outsourced team after go-live.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Ring-fence internal roles; require attendance in transfer sessions.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21203" y="2227183"/>
            <a:ext cx="4215289" cy="2141815"/>
          </a:xfrm>
          <a:prstGeom prst="roundRect">
            <a:avLst>
              <a:gd name="adj" fmla="val 5123"/>
            </a:avLst>
          </a:prstGeom>
          <a:solidFill>
            <a:srgbClr val="FDF9F0"/>
          </a:solidFill>
          <a:ln w="22860">
            <a:solidFill>
              <a:srgbClr val="E3CE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8343" y="2227183"/>
            <a:ext cx="91440" cy="2141815"/>
          </a:xfrm>
          <a:prstGeom prst="roundRect">
            <a:avLst>
              <a:gd name="adj" fmla="val 91163"/>
            </a:avLst>
          </a:prstGeom>
          <a:solidFill>
            <a:srgbClr val="F7941D"/>
          </a:solidFill>
          <a:ln/>
        </p:spPr>
      </p:sp>
      <p:sp>
        <p:nvSpPr>
          <p:cNvPr id="13" name="Text 11"/>
          <p:cNvSpPr/>
          <p:nvPr/>
        </p:nvSpPr>
        <p:spPr>
          <a:xfrm>
            <a:off x="9911001" y="2448401"/>
            <a:ext cx="315063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Undefined Business Logic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11001" y="2877622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conflicting outputs and weak trust.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Lock business definitions before transformation completion.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4567357"/>
            <a:ext cx="4215289" cy="2451973"/>
          </a:xfrm>
          <a:prstGeom prst="roundRect">
            <a:avLst>
              <a:gd name="adj" fmla="val 4475"/>
            </a:avLst>
          </a:prstGeom>
          <a:solidFill>
            <a:srgbClr val="FDF9F0"/>
          </a:solidFill>
          <a:ln w="22860">
            <a:solidFill>
              <a:srgbClr val="E3CE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0930" y="4567357"/>
            <a:ext cx="91440" cy="2451973"/>
          </a:xfrm>
          <a:prstGeom prst="roundRect">
            <a:avLst>
              <a:gd name="adj" fmla="val 91163"/>
            </a:avLst>
          </a:prstGeom>
          <a:solidFill>
            <a:srgbClr val="F7941D"/>
          </a:solidFill>
          <a:ln/>
        </p:spPr>
      </p:sp>
      <p:sp>
        <p:nvSpPr>
          <p:cNvPr id="17" name="Text 15"/>
          <p:cNvSpPr/>
          <p:nvPr/>
        </p:nvSpPr>
        <p:spPr>
          <a:xfrm>
            <a:off x="1083588" y="4788575"/>
            <a:ext cx="37042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Source Quality &amp; Matching Issues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83588" y="5527953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reconciliation failures and user distrust.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Publish data quality controls and exception handling with each output.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207437" y="4567357"/>
            <a:ext cx="4215408" cy="2451973"/>
          </a:xfrm>
          <a:prstGeom prst="roundRect">
            <a:avLst>
              <a:gd name="adj" fmla="val 4475"/>
            </a:avLst>
          </a:prstGeom>
          <a:solidFill>
            <a:srgbClr val="FDF9F0"/>
          </a:solidFill>
          <a:ln w="22860">
            <a:solidFill>
              <a:srgbClr val="E3CE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4577" y="4567357"/>
            <a:ext cx="91440" cy="2451973"/>
          </a:xfrm>
          <a:prstGeom prst="roundRect">
            <a:avLst>
              <a:gd name="adj" fmla="val 91163"/>
            </a:avLst>
          </a:prstGeom>
          <a:solidFill>
            <a:srgbClr val="F7941D"/>
          </a:solidFill>
          <a:ln/>
        </p:spPr>
      </p:sp>
      <p:sp>
        <p:nvSpPr>
          <p:cNvPr id="21" name="Text 19"/>
          <p:cNvSpPr/>
          <p:nvPr/>
        </p:nvSpPr>
        <p:spPr>
          <a:xfrm>
            <a:off x="5497235" y="4788575"/>
            <a:ext cx="370439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Competing Operational Priorities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5497235" y="5527953"/>
            <a:ext cx="37043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Pulls internal owners away from acceptance and handoff.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Weekly executive checkpoint to enforce priority and remove blockers.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8468"/>
            <a:ext cx="588561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Decisions Required Now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095381"/>
            <a:ext cx="4215289" cy="2587466"/>
          </a:xfrm>
          <a:prstGeom prst="roundRect">
            <a:avLst>
              <a:gd name="adj" fmla="val 3222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9768" y="230135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F7941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479" y="2464951"/>
            <a:ext cx="267891" cy="2678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9768" y="3095030"/>
            <a:ext cx="304859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Confirm Scope Boundary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9768" y="3524250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remains limited to ADT, claims, and eligibility rosters only.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2095381"/>
            <a:ext cx="4215408" cy="2587466"/>
          </a:xfrm>
          <a:prstGeom prst="roundRect">
            <a:avLst>
              <a:gd name="adj" fmla="val 3222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13415" y="230135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F7941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7126" y="2464951"/>
            <a:ext cx="267891" cy="2678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13415" y="3095030"/>
            <a:ext cx="267069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Approve Four Outputs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413415" y="3524250"/>
            <a:ext cx="380345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 Phase 1 outputs are the only required production deliverables for mid-May 2026.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9621203" y="2095381"/>
            <a:ext cx="4215289" cy="2587466"/>
          </a:xfrm>
          <a:prstGeom prst="roundRect">
            <a:avLst>
              <a:gd name="adj" fmla="val 3222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27181" y="230135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F7941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90892" y="2464951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27181" y="3095030"/>
            <a:ext cx="323861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Assign &amp; Ring-Fence Roles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27181" y="3524250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and protect the internal roles identified in this plan.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93790" y="4881205"/>
            <a:ext cx="6422112" cy="2269927"/>
          </a:xfrm>
          <a:prstGeom prst="roundRect">
            <a:avLst>
              <a:gd name="adj" fmla="val 3672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99768" y="508718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F7941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3479" y="5250775"/>
            <a:ext cx="267891" cy="2678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99768" y="58808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 KT Artifacts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999768" y="6310074"/>
            <a:ext cx="6010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the outsourced team to deliver all knowledge transfer and current-state artifacts listed in this plan.</a:t>
            </a:r>
            <a:endParaRPr lang="en-US" sz="1550" dirty="0"/>
          </a:p>
        </p:txBody>
      </p:sp>
      <p:sp>
        <p:nvSpPr>
          <p:cNvPr id="23" name="Shape 17"/>
          <p:cNvSpPr/>
          <p:nvPr/>
        </p:nvSpPr>
        <p:spPr>
          <a:xfrm>
            <a:off x="7414260" y="4881205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FDE8CE"/>
          </a:solidFill>
          <a:ln w="7620">
            <a:solidFill>
              <a:srgbClr val="E3CEB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20238" y="508718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F7941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3949" y="5250775"/>
            <a:ext cx="267891" cy="2678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20238" y="58808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Defer Expansion</a:t>
            </a:r>
            <a:endParaRPr lang="en-US" sz="1950" dirty="0"/>
          </a:p>
        </p:txBody>
      </p:sp>
      <p:sp>
        <p:nvSpPr>
          <p:cNvPr id="27" name="Text 20"/>
          <p:cNvSpPr/>
          <p:nvPr/>
        </p:nvSpPr>
        <p:spPr>
          <a:xfrm>
            <a:off x="7620238" y="6310074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Defer any additional source expansion or generalized platform work to a later phase.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34728"/>
            <a:ext cx="1030843" cy="373142"/>
          </a:xfrm>
          <a:prstGeom prst="roundRect">
            <a:avLst>
              <a:gd name="adj" fmla="val 17872"/>
            </a:avLst>
          </a:prstGeom>
          <a:solidFill>
            <a:srgbClr val="FDE8CE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694259"/>
            <a:ext cx="79271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087166"/>
            <a:ext cx="637472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 Output Definitions</a:t>
            </a:r>
            <a:endParaRPr lang="en-US" sz="3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04899"/>
            <a:ext cx="676394" cy="4180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18191" y="3004899"/>
            <a:ext cx="215026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Acute Event Command View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718191" y="3744278"/>
            <a:ext cx="2150269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admissions, discharges, and ED activity matched to the current attributed population for operational awareness and prioritization.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467" y="3004899"/>
            <a:ext cx="676394" cy="4180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40868" y="3004899"/>
            <a:ext cx="2150269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Transition of Care Action Layer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5040868" y="4054435"/>
            <a:ext cx="215026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Action-oriented view of attributed members with recent acute events requiring follow-up, with timing, assignment, and unresolved exception visibility.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144" y="3004899"/>
            <a:ext cx="676394" cy="4180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63545" y="3004899"/>
            <a:ext cx="2150269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High Utilization &amp; Cost Pressure View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8363545" y="4054435"/>
            <a:ext cx="2150269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Claims plus roster-driven view of attributed members with elevated recent inpatient, repeat ED, or cost pressure patterns.</a:t>
            </a:r>
            <a:endParaRPr lang="en-US" sz="15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1821" y="3004899"/>
            <a:ext cx="676394" cy="4180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686223" y="3004899"/>
            <a:ext cx="2150388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Data Quality &amp; Reconciliation Control Layer</a:t>
            </a:r>
            <a:endParaRPr lang="en-US" sz="1950" dirty="0"/>
          </a:p>
        </p:txBody>
      </p:sp>
      <p:sp>
        <p:nvSpPr>
          <p:cNvPr id="16" name="Text 10"/>
          <p:cNvSpPr/>
          <p:nvPr/>
        </p:nvSpPr>
        <p:spPr>
          <a:xfrm>
            <a:off x="11686223" y="4054435"/>
            <a:ext cx="2150388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 into source freshness, unmatched records, roster alignment issues, and reconciliation exceptions that affect trust in the outputs.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01684506616B4AA25ACEAB11E18AF3" ma:contentTypeVersion="11" ma:contentTypeDescription="Create a new document." ma:contentTypeScope="" ma:versionID="597525ad70e0a0f43a376c2ea30524fe">
  <xsd:schema xmlns:xsd="http://www.w3.org/2001/XMLSchema" xmlns:xs="http://www.w3.org/2001/XMLSchema" xmlns:p="http://schemas.microsoft.com/office/2006/metadata/properties" xmlns:ns2="33059d93-2309-41ed-9b34-ca808a9b9e01" xmlns:ns3="f16b3a5c-980b-46e3-b815-254754dadcaf" targetNamespace="http://schemas.microsoft.com/office/2006/metadata/properties" ma:root="true" ma:fieldsID="8dd4f92f54a6369ae601a3417159086b" ns2:_="" ns3:_="">
    <xsd:import namespace="33059d93-2309-41ed-9b34-ca808a9b9e01"/>
    <xsd:import namespace="f16b3a5c-980b-46e3-b815-254754dadc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059d93-2309-41ed-9b34-ca808a9b9e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1f2941a-98a3-4c0a-b0e5-dcebad1f39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6b3a5c-980b-46e3-b815-254754dadca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41669ef-df6c-4b27-bee4-ea814f0aefc9}" ma:internalName="TaxCatchAll" ma:showField="CatchAllData" ma:web="f16b3a5c-980b-46e3-b815-254754dadc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3059d93-2309-41ed-9b34-ca808a9b9e01">
      <Terms xmlns="http://schemas.microsoft.com/office/infopath/2007/PartnerControls"/>
    </lcf76f155ced4ddcb4097134ff3c332f>
    <TaxCatchAll xmlns="f16b3a5c-980b-46e3-b815-254754dadcaf" xsi:nil="true"/>
  </documentManagement>
</p:properties>
</file>

<file path=customXml/itemProps1.xml><?xml version="1.0" encoding="utf-8"?>
<ds:datastoreItem xmlns:ds="http://schemas.openxmlformats.org/officeDocument/2006/customXml" ds:itemID="{80B92601-A9B4-49D2-8C5E-7967067CB3EF}"/>
</file>

<file path=customXml/itemProps2.xml><?xml version="1.0" encoding="utf-8"?>
<ds:datastoreItem xmlns:ds="http://schemas.openxmlformats.org/officeDocument/2006/customXml" ds:itemID="{F6339FF7-8060-4EFF-B37A-F50AE6BA50C8}"/>
</file>

<file path=customXml/itemProps3.xml><?xml version="1.0" encoding="utf-8"?>
<ds:datastoreItem xmlns:ds="http://schemas.openxmlformats.org/officeDocument/2006/customXml" ds:itemID="{BB0F45D4-281C-4057-9D7B-E532487D6A2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2026-03-11T05:19:12Z</dcterms:created>
  <dcterms:modified xsi:type="dcterms:W3CDTF">2026-03-11T05:19:12Z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0x0101001601684506616B4AA25ACEAB11E18AF3</vt:lpwstr>
  </property>
</Properties>
</file>